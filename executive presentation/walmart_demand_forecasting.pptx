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Sales ($M)</c:v>
                </c:pt>
              </c:strCache>
            </c:strRef>
          </c:tx>
          <c:spPr>
            <a:solidFill>
              <a:srgbClr val="00B4D8"/>
            </a:solidFill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Jan'10</c:v>
                  </c:pt>
                  <c:pt idx="1">
                    <c:v>Apr'10</c:v>
                  </c:pt>
                  <c:pt idx="2">
                    <c:v>Jul'10</c:v>
                  </c:pt>
                  <c:pt idx="3">
                    <c:v>Oct'10</c:v>
                  </c:pt>
                  <c:pt idx="4">
                    <c:v>Nov'10</c:v>
                  </c:pt>
                  <c:pt idx="5">
                    <c:v>Jan'11</c:v>
                  </c:pt>
                  <c:pt idx="6">
                    <c:v>Apr'11</c:v>
                  </c:pt>
                  <c:pt idx="7">
                    <c:v>Jul'11</c:v>
                  </c:pt>
                  <c:pt idx="8">
                    <c:v>Oct'11</c:v>
                  </c:pt>
                  <c:pt idx="9">
                    <c:v>Nov'11</c:v>
                  </c:pt>
                  <c:pt idx="10">
                    <c:v>Jan'12</c:v>
                  </c:pt>
                  <c:pt idx="11">
                    <c:v>Jun'12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</c:v>
                </c:pt>
                <c:pt idx="1">
                  <c:v>42</c:v>
                </c:pt>
                <c:pt idx="2">
                  <c:v>41</c:v>
                </c:pt>
                <c:pt idx="3">
                  <c:v>44</c:v>
                </c:pt>
                <c:pt idx="4">
                  <c:v>81</c:v>
                </c:pt>
                <c:pt idx="5">
                  <c:v>43</c:v>
                </c:pt>
                <c:pt idx="6">
                  <c:v>44</c:v>
                </c:pt>
                <c:pt idx="7">
                  <c:v>43</c:v>
                </c:pt>
                <c:pt idx="8">
                  <c:v>45</c:v>
                </c:pt>
                <c:pt idx="9">
                  <c:v>77</c:v>
                </c:pt>
                <c:pt idx="10">
                  <c:v>44</c:v>
                </c:pt>
                <c:pt idx="11">
                  <c:v>51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35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of Variation (CV)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0F0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B70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B70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Dept 94</c:v>
                  </c:pt>
                  <c:pt idx="1">
                    <c:v>Dept 99</c:v>
                  </c:pt>
                  <c:pt idx="2">
                    <c:v>Dept 59</c:v>
                  </c:pt>
                  <c:pt idx="3">
                    <c:v>Dept 35</c:v>
                  </c:pt>
                  <c:pt idx="4">
                    <c:v>Dept 47</c:v>
                  </c:pt>
                  <c:pt idx="5">
                    <c:v>Dept 72</c:v>
                  </c:pt>
                  <c:pt idx="6">
                    <c:v>Dept 38</c:v>
                  </c:pt>
                  <c:pt idx="7">
                    <c:v>Dept 92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0.85</c:v>
                </c:pt>
                <c:pt idx="1">
                  <c:v>1.12</c:v>
                </c:pt>
                <c:pt idx="2">
                  <c:v>3.35</c:v>
                </c:pt>
                <c:pt idx="3">
                  <c:v>1.68</c:v>
                </c:pt>
                <c:pt idx="4">
                  <c:v>0.42</c:v>
                </c:pt>
                <c:pt idx="5">
                  <c:v>0.25</c:v>
                </c:pt>
                <c:pt idx="6">
                  <c:v>0.18</c:v>
                </c:pt>
                <c:pt idx="7">
                  <c:v>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0F0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Correlation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0F0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B70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MarkDown5</c:v>
                  </c:pt>
                  <c:pt idx="1">
                    <c:v>MarkDown1</c:v>
                  </c:pt>
                  <c:pt idx="2">
                    <c:v>MarkDown4</c:v>
                  </c:pt>
                  <c:pt idx="3">
                    <c:v>MarkDown3</c:v>
                  </c:pt>
                  <c:pt idx="4">
                    <c:v>Temperature</c:v>
                  </c:pt>
                  <c:pt idx="5">
                    <c:v>CPI</c:v>
                  </c:pt>
                  <c:pt idx="6">
                    <c:v>Unemployment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0.051</c:v>
                </c:pt>
                <c:pt idx="1">
                  <c:v>0.047</c:v>
                </c:pt>
                <c:pt idx="2">
                  <c:v>0.033</c:v>
                </c:pt>
                <c:pt idx="3">
                  <c:v>0.021</c:v>
                </c:pt>
                <c:pt idx="4">
                  <c:v>0.003</c:v>
                </c:pt>
                <c:pt idx="5">
                  <c:v>-0.021</c:v>
                </c:pt>
                <c:pt idx="6">
                  <c:v>-0.026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0F0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B4D8"/>
            </a:solidFill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Wk1</c:v>
                  </c:pt>
                  <c:pt idx="1">
                    <c:v>Wk2</c:v>
                  </c:pt>
                  <c:pt idx="2">
                    <c:v>Wk3</c:v>
                  </c:pt>
                  <c:pt idx="3">
                    <c:v>Wk4</c:v>
                  </c:pt>
                  <c:pt idx="4">
                    <c:v>Wk5</c:v>
                  </c:pt>
                  <c:pt idx="5">
                    <c:v>Wk6</c:v>
                  </c:pt>
                  <c:pt idx="6">
                    <c:v>Wk7</c:v>
                  </c:pt>
                  <c:pt idx="7">
                    <c:v>Wk8</c:v>
                  </c:pt>
                  <c:pt idx="8">
                    <c:v>Wk9</c:v>
                  </c:pt>
                  <c:pt idx="9">
                    <c:v>Wk10</c:v>
                  </c:pt>
                  <c:pt idx="10">
                    <c:v>Wk11</c:v>
                  </c:pt>
                  <c:pt idx="11">
                    <c:v>Wk12</c:v>
                  </c:pt>
                  <c:pt idx="12">
                    <c:v>Wk13</c:v>
                  </c:pt>
                  <c:pt idx="13">
                    <c:v>Wk14</c:v>
                  </c:pt>
                  <c:pt idx="14">
                    <c:v>Wk15</c:v>
                  </c:pt>
                  <c:pt idx="15">
                    <c:v>Wk16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42000</c:v>
                </c:pt>
                <c:pt idx="1">
                  <c:v>43500</c:v>
                </c:pt>
                <c:pt idx="2">
                  <c:v>41800</c:v>
                </c:pt>
                <c:pt idx="3">
                  <c:v>44200</c:v>
                </c:pt>
                <c:pt idx="4">
                  <c:v>79000</c:v>
                </c:pt>
                <c:pt idx="5">
                  <c:v>43000</c:v>
                </c:pt>
                <c:pt idx="6">
                  <c:v>44500</c:v>
                </c:pt>
                <c:pt idx="7">
                  <c:v>41000</c:v>
                </c:pt>
                <c:pt idx="8">
                  <c:v>43800</c:v>
                </c:pt>
                <c:pt idx="9">
                  <c:v>44200</c:v>
                </c:pt>
                <c:pt idx="10">
                  <c:v>45000</c:v>
                </c:pt>
                <c:pt idx="11">
                  <c:v>77000</c:v>
                </c:pt>
                <c:pt idx="12">
                  <c:v>43500</c:v>
                </c:pt>
                <c:pt idx="13">
                  <c:v>44000</c:v>
                </c:pt>
                <c:pt idx="14">
                  <c:v>48000</c:v>
                </c:pt>
                <c:pt idx="15">
                  <c:v>51000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Prophet Forecast</c:v>
                </c:pt>
              </c:strCache>
            </c:strRef>
          </c:tx>
          <c:spPr>
            <a:solidFill>
              <a:srgbClr val="FFB703"/>
            </a:solidFill>
            <a:ln w="31750" cap="flat">
              <a:solidFill>
                <a:srgbClr val="FFB70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703"/>
              </a:solidFill>
              <a:ln w="9525" cap="flat">
                <a:solidFill>
                  <a:srgbClr val="FFB70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Wk1</c:v>
                  </c:pt>
                  <c:pt idx="1">
                    <c:v>Wk2</c:v>
                  </c:pt>
                  <c:pt idx="2">
                    <c:v>Wk3</c:v>
                  </c:pt>
                  <c:pt idx="3">
                    <c:v>Wk4</c:v>
                  </c:pt>
                  <c:pt idx="4">
                    <c:v>Wk5</c:v>
                  </c:pt>
                  <c:pt idx="5">
                    <c:v>Wk6</c:v>
                  </c:pt>
                  <c:pt idx="6">
                    <c:v>Wk7</c:v>
                  </c:pt>
                  <c:pt idx="7">
                    <c:v>Wk8</c:v>
                  </c:pt>
                  <c:pt idx="8">
                    <c:v>Wk9</c:v>
                  </c:pt>
                  <c:pt idx="9">
                    <c:v>Wk10</c:v>
                  </c:pt>
                  <c:pt idx="10">
                    <c:v>Wk11</c:v>
                  </c:pt>
                  <c:pt idx="11">
                    <c:v>Wk12</c:v>
                  </c:pt>
                  <c:pt idx="12">
                    <c:v>Wk13</c:v>
                  </c:pt>
                  <c:pt idx="13">
                    <c:v>Wk14</c:v>
                  </c:pt>
                  <c:pt idx="14">
                    <c:v>Wk15</c:v>
                  </c:pt>
                  <c:pt idx="15">
                    <c:v>Wk16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42500</c:v>
                </c:pt>
                <c:pt idx="1">
                  <c:v>43200</c:v>
                </c:pt>
                <c:pt idx="2">
                  <c:v>42000</c:v>
                </c:pt>
                <c:pt idx="3">
                  <c:v>44500</c:v>
                </c:pt>
                <c:pt idx="4">
                  <c:v>78500</c:v>
                </c:pt>
                <c:pt idx="5">
                  <c:v>43300</c:v>
                </c:pt>
                <c:pt idx="6">
                  <c:v>44200</c:v>
                </c:pt>
                <c:pt idx="7">
                  <c:v>41500</c:v>
                </c:pt>
                <c:pt idx="8">
                  <c:v>44000</c:v>
                </c:pt>
                <c:pt idx="9">
                  <c:v>44500</c:v>
                </c:pt>
                <c:pt idx="10">
                  <c:v>45200</c:v>
                </c:pt>
                <c:pt idx="11">
                  <c:v>76500</c:v>
                </c:pt>
                <c:pt idx="12">
                  <c:v>43800</c:v>
                </c:pt>
                <c:pt idx="13">
                  <c:v>44500</c:v>
                </c:pt>
                <c:pt idx="14">
                  <c:v>48500</c:v>
                </c:pt>
                <c:pt idx="15">
                  <c:v>50800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legend>
      <c:legendPos val="tr"/>
      <c:overlay val="0"/>
      <c:txPr>
        <a:bodyPr/>
        <a:lstStyle/>
        <a:p>
          <a:pPr>
            <a:defRPr>
              <a:solidFill>
                <a:srgbClr val="8892A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73152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2286000"/>
            <a:ext cx="2926080" cy="2926080"/>
          </a:xfrm>
          <a:prstGeom prst="ellipse">
            <a:avLst/>
          </a:prstGeom>
          <a:solidFill>
            <a:srgbClr val="0F3460">
              <a:alpha val="60000"/>
            </a:srgbClr>
          </a:solidFill>
          <a:ln w="12700">
            <a:solidFill>
              <a:srgbClr val="0F3460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EXECUTIVE PRESENTATION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</a:rPr>
              <a:t>WALMART DEMAND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</a:rPr>
              <a:t>FORECASTING &amp;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</a:rPr>
              <a:t>INVENTORY OPTIMIZATION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</a:rPr>
              <a:t>Walmart Store Sales | 45 Stores | 81 Departments | 2010–2012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703320"/>
            <a:ext cx="1600200" cy="59436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3703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420K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Records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48840" y="3703320"/>
            <a:ext cx="1600200" cy="59436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3703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45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Stores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31920" y="3703320"/>
            <a:ext cx="1600200" cy="59436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3703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14.30%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MAPE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Samarth Gupta  ·  Data Analyst | Business Analytics &amp; Machine Learning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0F0F0"/>
                </a:solidFill>
              </a:rPr>
              <a:t>THE OPERATIONAL PROBLEM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3977640" cy="3291840"/>
          </a:xfrm>
          <a:prstGeom prst="rect">
            <a:avLst/>
          </a:prstGeom>
          <a:solidFill>
            <a:srgbClr val="1A0008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397764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63946"/>
                </a:solidFill>
              </a:rPr>
              <a:t>OVERSTOCK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0F0F0"/>
                </a:solidFill>
              </a:rPr>
              <a:t>Excess inventory accumulates, storage costs rise, markdowns used to clear stock that should never have been ordered.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📦 Deadstock  ·  📉 Margin erosion  ·  🏪 Storage cost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3977640" cy="3291840"/>
          </a:xfrm>
          <a:prstGeom prst="rect">
            <a:avLst/>
          </a:prstGeom>
          <a:solidFill>
            <a:srgbClr val="00152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39776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B4D8"/>
                </a:solidFill>
              </a:rPr>
              <a:t>UNDERSTOCK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0F0F0"/>
                </a:solidFill>
              </a:rPr>
              <a:t>Shelves run empty, sales lost permanently. A customer who can't find what they need does not wait.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9204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🕳️ Lost sales  ·  😤 Churn  ·  ❌ Zero revenue recovery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A0A1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37083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B703"/>
                </a:solidFill>
              </a:rPr>
              <a:t>"The data exists. What doesn't exist is a consistent way to translate it into decisions managers can actually plan around."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0F0F0"/>
                </a:solidFill>
              </a:rPr>
              <a:t>THE DATASET AT A GLANCE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1920240" cy="1417320"/>
          </a:xfrm>
          <a:prstGeom prst="rect">
            <a:avLst/>
          </a:prstGeom>
          <a:solidFill>
            <a:srgbClr val="162447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822960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420,285</a:t>
            </a:r>
            <a:endParaRPr lang="en-US" sz="2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Records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14600" y="822960"/>
            <a:ext cx="1920240" cy="1417320"/>
          </a:xfrm>
          <a:prstGeom prst="rect">
            <a:avLst/>
          </a:prstGeom>
          <a:solidFill>
            <a:srgbClr val="162447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14600" y="822960"/>
            <a:ext cx="192024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877824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703"/>
                </a:solidFill>
              </a:rPr>
              <a:t>45</a:t>
            </a:r>
            <a:endParaRPr lang="en-US" sz="2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Stores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617720" y="822960"/>
            <a:ext cx="1920240" cy="1417320"/>
          </a:xfrm>
          <a:prstGeom prst="rect">
            <a:avLst/>
          </a:prstGeom>
          <a:solidFill>
            <a:srgbClr val="162447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22960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877824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81</a:t>
            </a:r>
            <a:endParaRPr lang="en-US" sz="2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Departments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720840" y="822960"/>
            <a:ext cx="1920240" cy="1417320"/>
          </a:xfrm>
          <a:prstGeom prst="rect">
            <a:avLst/>
          </a:prstGeom>
          <a:solidFill>
            <a:srgbClr val="162447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20840" y="822960"/>
            <a:ext cx="192024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877824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703"/>
                </a:solidFill>
              </a:rPr>
              <a:t>2.5 Yrs</a:t>
            </a:r>
            <a:endParaRPr lang="en-US" sz="2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Time Span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11480" y="2514600"/>
            <a:ext cx="832104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DATA MERGE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</a:rPr>
              <a:t>train.csv + features.csv — weekly sales records merged with external conditions: temperature, CPI, unemployment, fuel price, and promotional markdown data.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A0A1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37083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B703"/>
                </a:solidFill>
              </a:rPr>
              <a:t>"Holiday weeks behave so differently from the rest of the year they are effectively a separate business problem."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0F0F0"/>
                </a:solidFill>
              </a:rPr>
              <a:t>WHAT THE DATA REVEALS: SALES STRUCTURE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49808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3200400" y="960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703"/>
                </a:solidFill>
              </a:rPr>
              <a:t>$81M — Holiday Spike '10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200400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703"/>
                </a:solidFill>
              </a:rPr>
              <a:t>$77M — Holiday Spike '11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669280" y="749808"/>
            <a:ext cx="3017520" cy="868680"/>
          </a:xfrm>
          <a:prstGeom prst="rect">
            <a:avLst/>
          </a:prstGeom>
          <a:solidFill>
            <a:srgbClr val="162447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74980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749808"/>
            <a:ext cx="283464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</a:rPr>
              <a:t>Top Store  </a:t>
            </a:r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Store 20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$301M Total Sales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0" y="1755648"/>
            <a:ext cx="3017520" cy="868680"/>
          </a:xfrm>
          <a:prstGeom prst="rect">
            <a:avLst/>
          </a:prstGeom>
          <a:solidFill>
            <a:srgbClr val="162447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755648"/>
            <a:ext cx="64008" cy="868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755648"/>
            <a:ext cx="283464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</a:rPr>
              <a:t>Top Dept  </a:t>
            </a:r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</a:rPr>
              <a:t>Dept 92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$484M Total Sales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9280" y="2761488"/>
            <a:ext cx="3017520" cy="868680"/>
          </a:xfrm>
          <a:prstGeom prst="rect">
            <a:avLst/>
          </a:prstGeom>
          <a:solidFill>
            <a:srgbClr val="162447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0" y="2761488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2761488"/>
            <a:ext cx="283464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</a:rPr>
              <a:t>Holiday Lift  </a:t>
            </a:r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+7.5%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vs. regular weeks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A0A1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37083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B4D8"/>
                </a:solidFill>
              </a:rPr>
              <a:t>"Revenue is highly concentrated — top 3 stores and top 3 departments carry disproportionate financial risk."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0F0F0"/>
                </a:solidFill>
              </a:rPr>
              <a:t>VOLATILITY: NOT ALL DEMAND IS EQUAL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49808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822960"/>
            <a:ext cx="3017520" cy="914400"/>
          </a:xfrm>
          <a:prstGeom prst="rect">
            <a:avLst/>
          </a:prstGeom>
          <a:solidFill>
            <a:srgbClr val="162447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669280" y="822960"/>
            <a:ext cx="64008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822960"/>
            <a:ext cx="28346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</a:rPr>
              <a:t>Most Volatile</a:t>
            </a:r>
            <a:endParaRPr lang="en-US" sz="9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CV 3.35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Store 35, Dept 59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0" y="1874520"/>
            <a:ext cx="3017520" cy="914400"/>
          </a:xfrm>
          <a:prstGeom prst="rect">
            <a:avLst/>
          </a:prstGeom>
          <a:solidFill>
            <a:srgbClr val="162447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87452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06440" y="1874520"/>
            <a:ext cx="28346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</a:rPr>
              <a:t>Stable Floor</a:t>
            </a:r>
            <a:endParaRPr lang="en-US" sz="9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CV ≤ 0.05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Core grocery depts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2926080"/>
            <a:ext cx="3017520" cy="914400"/>
          </a:xfrm>
          <a:prstGeom prst="rect">
            <a:avLst/>
          </a:prstGeom>
          <a:solidFill>
            <a:srgbClr val="162447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2926080"/>
            <a:ext cx="64008" cy="914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2926080"/>
            <a:ext cx="28346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</a:rPr>
              <a:t>Volatile Cluster</a:t>
            </a:r>
            <a:endParaRPr lang="en-US" sz="9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</a:rPr>
              <a:t>Depts 59, 99, 94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Category-level risk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A0A1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437083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B4D8"/>
                </a:solidFill>
              </a:rPr>
              <a:t>"Demand volatility is not random — it clusters at the category level, and safety stock decisions must reflect that."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0F0F0"/>
                </a:solidFill>
              </a:rPr>
              <a:t>DO EXTERNAL FACTORS DRIVE SALES? (THE ANSWER SURPRISES)</a:t>
            </a:r>
            <a:endParaRPr lang="en-US" sz="1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49808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0" y="749808"/>
            <a:ext cx="3200400" cy="20116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62356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</a:rPr>
              <a:t>THE KEY FINDING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23560" y="12344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0F0F0"/>
                </a:solidFill>
              </a:rPr>
              <a:t>Promotional markdowns move sales. Macroeconomic conditions and weather do not. This simplifies the forecasting problem significantly.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0" y="2971800"/>
            <a:ext cx="3200400" cy="1097280"/>
          </a:xfrm>
          <a:prstGeom prst="rect">
            <a:avLst/>
          </a:prstGeom>
          <a:solidFill>
            <a:srgbClr val="162447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3035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00B4D8"/>
                </a:solidFill>
              </a:rPr>
              <a:t>✅  Markdowns  →  Signal
</a:t>
            </a:r>
            <a:pPr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E63946"/>
                </a:solidFill>
              </a:rPr>
              <a:t>❌  Macro / Weather  →  Noise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A0A1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37083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B4D8"/>
                </a:solidFill>
              </a:rPr>
              <a:t>"External signal is weak — the demand story is internal, not macro."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0F0F0"/>
                </a:solidFill>
              </a:rPr>
              <a:t>THE FIRST MODEL FAILED. THAT WAS THE FINDING.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3977640" cy="3291840"/>
          </a:xfrm>
          <a:prstGeom prst="rect">
            <a:avLst/>
          </a:prstGeom>
          <a:solidFill>
            <a:srgbClr val="1A0008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397764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63946"/>
                </a:solidFill>
              </a:rPr>
              <a:t>SARIMA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892A4"/>
                </a:solidFill>
              </a:rPr>
              <a:t>BASELINE MODEL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</a:rPr>
              <a:t>MAE
</a:t>
            </a:r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</a:rPr>
              <a:t>$34,263
</a:t>
            </a:r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</a:rPr>
              <a:t>
MAPE
</a:t>
            </a:r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</a:rPr>
              <a:t>190.04%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892A4"/>
                </a:solidFill>
              </a:rPr>
              <a:t>"Flat forecast where actuals surge. No mechanism for holiday behaviour."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3977640" cy="3291840"/>
          </a:xfrm>
          <a:prstGeom prst="rect">
            <a:avLst/>
          </a:prstGeom>
          <a:solidFill>
            <a:srgbClr val="00152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77240"/>
            <a:ext cx="39776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B4D8"/>
                </a:solidFill>
              </a:rPr>
              <a:t>PROPHET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298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892A4"/>
                </a:solidFill>
              </a:rPr>
              <a:t>CHAMPION MODEL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</a:rPr>
              <a:t>MAE
</a:t>
            </a:r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$2,558
</a:t>
            </a:r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</a:rPr>
              <a:t>
MAPE
</a:t>
            </a:r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14.30%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3383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892A4"/>
                </a:solidFill>
              </a:rPr>
              <a:t>"Holiday regressor absorbs the spikes SARIMA treats as noise."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A0A1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37083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B703"/>
                </a:solidFill>
              </a:rPr>
              <a:t>"A 190% MAPE is not a modelling failure — it is proof that holiday weeks are a structurally different business problem."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0F0F0"/>
                </a:solidFill>
              </a:rPr>
              <a:t>THE FORECAST: WHAT DEMAND LOOKS LIKE NEXT QUARTER</a:t>
            </a:r>
            <a:endParaRPr lang="en-US" sz="1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49808"/>
          <a:ext cx="84124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11480" y="3840480"/>
            <a:ext cx="2651760" cy="50292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11480" y="3840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MAE  $2,558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91840" y="3840480"/>
            <a:ext cx="2651760" cy="502920"/>
          </a:xfrm>
          <a:prstGeom prst="rect">
            <a:avLst/>
          </a:prstGeom>
          <a:solidFill>
            <a:srgbClr val="0F3460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91840" y="3840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</a:rPr>
              <a:t>RMSE  $4,871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3840480"/>
            <a:ext cx="2651760" cy="50292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72200" y="3840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MAPE  14.30%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A0A1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544568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B4D8"/>
                </a:solidFill>
              </a:rPr>
              <a:t>"Prophet captures both baseline demand and holiday spikes with meaningful accuracy — ready for operational use."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0F0F0"/>
                </a:solidFill>
              </a:rPr>
              <a:t>FROM FORECAST TO INVENTORY DECISION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1737360" cy="118872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777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Annual
Demand
</a:t>
            </a:r>
            <a:pPr algn="ctr"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$1.08M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0" y="1261872"/>
            <a:ext cx="228600" cy="36576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57984" y="11887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40280" y="777240"/>
            <a:ext cx="1737360" cy="118872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777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Economic
Order Qty
</a:t>
            </a:r>
            <a:pPr algn="ctr"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EOQ Formula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1261872"/>
            <a:ext cx="228600" cy="36576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23944" y="11887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777240"/>
            <a:ext cx="1737360" cy="1188720"/>
          </a:xfrm>
          <a:prstGeom prst="rect">
            <a:avLst/>
          </a:prstGeom>
          <a:solidFill>
            <a:srgbClr val="0F3460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777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</a:rPr>
              <a:t>Safety
Stock
</a:t>
            </a:r>
            <a:pPr algn="ctr"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Service Level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261872"/>
            <a:ext cx="228600" cy="36576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904" y="11887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777240"/>
            <a:ext cx="1737360" cy="118872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777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Reorder
Point
</a:t>
            </a:r>
            <a:pPr algn="ctr"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Lead 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1737360" cy="1051560"/>
          </a:xfrm>
          <a:prstGeom prst="rect">
            <a:avLst/>
          </a:prstGeom>
          <a:solidFill>
            <a:srgbClr val="162447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40280"/>
            <a:ext cx="1737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9514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92A4"/>
                </a:solidFill>
              </a:rPr>
              <a:t>EOQ
</a:t>
            </a:r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6,579 units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40280" y="2240280"/>
            <a:ext cx="1737360" cy="1051560"/>
          </a:xfrm>
          <a:prstGeom prst="rect">
            <a:avLst/>
          </a:prstGeom>
          <a:solidFill>
            <a:srgbClr val="162447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40280" y="2240280"/>
            <a:ext cx="173736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229514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92A4"/>
                </a:solidFill>
              </a:rPr>
              <a:t>Safety Stock
</a:t>
            </a:r>
            <a:pPr algn="ctr" indent="0" marL="0">
              <a:buNone/>
            </a:pPr>
            <a:r>
              <a:rPr lang="en-US" sz="1500" b="1" dirty="0">
                <a:solidFill>
                  <a:srgbClr val="FFB703"/>
                </a:solidFill>
              </a:rPr>
              <a:t>16,210 units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0" y="2240280"/>
            <a:ext cx="1737360" cy="1051560"/>
          </a:xfrm>
          <a:prstGeom prst="rect">
            <a:avLst/>
          </a:prstGeom>
          <a:solidFill>
            <a:srgbClr val="162447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0" y="2240280"/>
            <a:ext cx="1737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229514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92A4"/>
                </a:solidFill>
              </a:rPr>
              <a:t>Reorder Point
</a:t>
            </a:r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38,724 units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72200" y="2240280"/>
            <a:ext cx="1737360" cy="1051560"/>
          </a:xfrm>
          <a:prstGeom prst="rect">
            <a:avLst/>
          </a:prstGeom>
          <a:solidFill>
            <a:srgbClr val="162447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2240280"/>
            <a:ext cx="173736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29514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92A4"/>
                </a:solidFill>
              </a:rPr>
              <a:t>Annual Demand
</a:t>
            </a:r>
            <a:pPr algn="ctr" indent="0" marL="0">
              <a:buNone/>
            </a:pPr>
            <a:r>
              <a:rPr lang="en-US" sz="1500" b="1" dirty="0">
                <a:solidFill>
                  <a:srgbClr val="FFB703"/>
                </a:solidFill>
              </a:rPr>
              <a:t>$1.08M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001000" y="777240"/>
            <a:ext cx="731520" cy="0"/>
          </a:xfrm>
          <a:prstGeom prst="rect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9320" y="3474720"/>
            <a:ext cx="27432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8892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3520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92A4"/>
                </a:solidFill>
              </a:rPr>
              <a:t>ASSUMPTIONS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2A4"/>
                </a:solidFill>
              </a:rPr>
              <a:t>S=$50 · h=25% · C=$10 · Lead Time=1 wk · Service Level=95%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474720"/>
            <a:ext cx="53949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11480" y="350215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703"/>
                </a:solidFill>
              </a:rPr>
              <a:t>"Every number is auditable. Change the assumptions, the model recalculates — no black box."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1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507992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EOQ → Safety Stock → Reorder Point — From forecast to decision in a single auditable chain.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0F0F0"/>
                </a:solidFill>
              </a:rPr>
              <a:t>WHAT OPERATIONS SHOULD DO NEXT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4023360" cy="1572768"/>
          </a:xfrm>
          <a:prstGeom prst="rect">
            <a:avLst/>
          </a:prstGeom>
          <a:solidFill>
            <a:srgbClr val="162447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822960"/>
            <a:ext cx="64008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60120"/>
            <a:ext cx="4114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9418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F0F0"/>
                </a:solidFill>
              </a:rPr>
              <a:t>Holiday Weeks as Separate Planning Regime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92A4"/>
                </a:solidFill>
              </a:rPr>
              <a:t>Treat Nov–Dec as a distinct operational mode. The 7.5% average lift and $81M spike cannot be handled by standard forecasting parameters.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023360" cy="1572768"/>
          </a:xfrm>
          <a:prstGeom prst="rect">
            <a:avLst/>
          </a:prstGeom>
          <a:solidFill>
            <a:srgbClr val="162447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64008" cy="15727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960120"/>
            <a:ext cx="41148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601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4960" y="9418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F0F0"/>
                </a:solidFill>
              </a:rPr>
              <a:t>Tier Inventory by Store Revenue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92A4"/>
                </a:solidFill>
              </a:rPr>
              <a:t>A 6× revenue gap exists between top and bottom stores. Safety stock allocation should reflect that asymmetry — not be applied uniformly.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560320"/>
            <a:ext cx="4023360" cy="1572768"/>
          </a:xfrm>
          <a:prstGeom prst="rect">
            <a:avLst/>
          </a:prstGeom>
          <a:solidFill>
            <a:srgbClr val="162447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560320"/>
            <a:ext cx="64008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97480"/>
            <a:ext cx="4114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974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26791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F0F0"/>
                </a:solidFill>
              </a:rPr>
              <a:t>Safety Stock by Volatility Cluster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1546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92A4"/>
                </a:solidFill>
              </a:rPr>
              <a:t>CV ranges from 3.35 (extreme) to ≤0.05 (stable). Blanket safety stock wastes capital at the stable floor and creates risk at the volatile extreme.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4023360" cy="1572768"/>
          </a:xfrm>
          <a:prstGeom prst="rect">
            <a:avLst/>
          </a:prstGeom>
          <a:solidFill>
            <a:srgbClr val="162447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560320"/>
            <a:ext cx="64008" cy="15727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2697480"/>
            <a:ext cx="41148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6974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94960" y="26791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F0F0"/>
                </a:solidFill>
              </a:rPr>
              <a:t>Markdown Planning Anchored to Top Depts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1546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92A4"/>
                </a:solidFill>
              </a:rPr>
              <a:t>Depts 92, 95, and 38 account for $1.33B combined. Promotional calendar and markdown decisions should start here — not be applied chain-wide.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A0A1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37083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B703"/>
                </a:solidFill>
              </a:rPr>
              <a:t>"The data says where the risk is. These four decisions are how operations responds to that signal."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65760"/>
            <a:ext cx="8046720" cy="1143000"/>
          </a:xfrm>
          <a:prstGeom prst="rect">
            <a:avLst/>
          </a:prstGeom>
          <a:solidFill>
            <a:srgbClr val="091422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393192"/>
            <a:ext cx="7863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50" i="1" dirty="0">
                <a:solidFill>
                  <a:srgbClr val="FFB703"/>
                </a:solidFill>
              </a:rPr>
              <a:t>"The model doesn't replace the operations manager. It tells them where to look, when to act, and how much to order."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14600" cy="233172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2514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B4D8"/>
                </a:solidFill>
              </a:rPr>
              <a:t>Demand Has Structure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999232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92A4"/>
                </a:solidFill>
              </a:rPr>
              <a:t>The seasonal pattern repeats predictably. It can be planned around.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783080"/>
            <a:ext cx="2514600" cy="2331720"/>
          </a:xfrm>
          <a:prstGeom prst="rect">
            <a:avLst/>
          </a:prstGeom>
          <a:solidFill>
            <a:srgbClr val="0F3460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783080"/>
            <a:ext cx="2514600" cy="640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B703"/>
                </a:solidFill>
              </a:rPr>
              <a:t>Volatility Is Identifiable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2999232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92A4"/>
                </a:solidFill>
              </a:rPr>
              <a:t>High-risk combinations are known. Safety stock can be targeted.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1783080"/>
            <a:ext cx="2514600" cy="233172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783080"/>
            <a:ext cx="2514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3504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B4D8"/>
                </a:solidFill>
              </a:rPr>
              <a:t>The Decisions Are Quantifiable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53328" y="2999232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92A4"/>
                </a:solidFill>
              </a:rPr>
              <a:t>EOQ, safety stock, reorder point — from data, not intuition.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Samarth Gupta  ·  Walmart Demand Forecasting &amp; Inventory Optimization  ·  2010–2012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Walmart Demand Forecasting &amp; Inventory Optimization</dc:title>
  <dc:subject>PptxGenJS Presentation</dc:subject>
  <dc:creator>Samarth Gupta</dc:creator>
  <cp:lastModifiedBy>Samarth Gupta</cp:lastModifiedBy>
  <cp:revision>1</cp:revision>
  <dcterms:created xsi:type="dcterms:W3CDTF">2026-05-06T21:53:36Z</dcterms:created>
  <dcterms:modified xsi:type="dcterms:W3CDTF">2026-05-06T21:53:36Z</dcterms:modified>
</cp:coreProperties>
</file>